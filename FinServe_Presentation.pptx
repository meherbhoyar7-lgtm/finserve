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218a784-4cb1-0d70-3134-0ff472df8221}">
          <p14:sldIdLst>
            <p14:sldId id="256"/>
            <p14:sldId id="257"/>
          </p14:sldIdLst>
        </p14:section>
        <p14:section name="Data" id="{54e442b9-355c-f15e-3c43-026477d8ae70}">
          <p14:sldIdLst>
            <p14:sldId id="258"/>
            <p14:sldId id="259"/>
          </p14:sldIdLst>
        </p14:section>
        <p14:section name="Modules" id="{5dfe5b85-e1e1-980e-b886-496e5fabcf67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Wrap-up" id="{22f72202-949e-9a33-5b96-f4cbd5d2a759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21F"/>
                </a:solidFill>
                <a:latin typeface="+mn-lt"/>
              </a:rPr>
              <a:t>Transactions by channel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Branch</c:v>
                  </c:pt>
                  <c:pt idx="1">
                    <c:v>ATM</c:v>
                  </c:pt>
                  <c:pt idx="2">
                    <c:v>Online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868</c:v>
                </c:pt>
                <c:pt idx="1">
                  <c:v>833</c:v>
                </c:pt>
                <c:pt idx="2">
                  <c:v>811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9E2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3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FinServe | Intelligent Banking Analytics Platform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FinServe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Intelligent Banking Analytics Platform: advanced algorithms applied to real banking data</a:t>
            </a:r>
            <a:endParaRPr lang="en-US" sz="2000" dirty="0"/>
          </a:p>
        </p:txBody>
      </p:sp>
      <p:sp>
        <p:nvSpPr>
          <p:cNvPr id="4" name="member"/>
          <p:cNvSpPr/>
          <p:nvPr/>
        </p:nvSpPr>
        <p:spPr>
          <a:xfrm>
            <a:off x="731520" y="4480560"/>
            <a:ext cx="26060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Meher Bhoyar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5074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250031378</a:t>
            </a:r>
            <a:endParaRPr lang="en-US" sz="1400" dirty="0"/>
          </a:p>
        </p:txBody>
      </p:sp>
      <p:sp>
        <p:nvSpPr>
          <p:cNvPr id="7" name="member"/>
          <p:cNvSpPr/>
          <p:nvPr/>
        </p:nvSpPr>
        <p:spPr>
          <a:xfrm>
            <a:off x="3566160" y="4480560"/>
            <a:ext cx="26060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4904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Adarsh Kumar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5074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2500030273</a:t>
            </a:r>
            <a:endParaRPr lang="en-US" sz="1400" dirty="0"/>
          </a:p>
        </p:txBody>
      </p:sp>
      <p:sp>
        <p:nvSpPr>
          <p:cNvPr id="10" name="member"/>
          <p:cNvSpPr/>
          <p:nvPr/>
        </p:nvSpPr>
        <p:spPr>
          <a:xfrm>
            <a:off x="6400800" y="4480560"/>
            <a:ext cx="26060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David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5074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2500031000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Team Members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overview and architecture</a:t>
            </a:r>
            <a:endParaRPr lang="en-US" sz="3200" dirty="0"/>
          </a:p>
        </p:txBody>
      </p:sp>
      <p:sp>
        <p:nvSpPr>
          <p:cNvPr id="3" name="stat"/>
          <p:cNvSpPr/>
          <p:nvPr/>
        </p:nvSpPr>
        <p:spPr>
          <a:xfrm>
            <a:off x="548640" y="1371600"/>
            <a:ext cx="26334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4475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algorithms implemented</a:t>
            </a:r>
            <a:endParaRPr lang="en-US" sz="1400" dirty="0"/>
          </a:p>
        </p:txBody>
      </p:sp>
      <p:sp>
        <p:nvSpPr>
          <p:cNvPr id="6" name="stat"/>
          <p:cNvSpPr/>
          <p:nvPr/>
        </p:nvSpPr>
        <p:spPr>
          <a:xfrm>
            <a:off x="3364992" y="1371600"/>
            <a:ext cx="26334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64992" y="144475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364992" y="224028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algorithm modules</a:t>
            </a:r>
            <a:endParaRPr lang="en-US" sz="1400" dirty="0"/>
          </a:p>
        </p:txBody>
      </p:sp>
      <p:sp>
        <p:nvSpPr>
          <p:cNvPr id="9" name="stat"/>
          <p:cNvSpPr/>
          <p:nvPr/>
        </p:nvSpPr>
        <p:spPr>
          <a:xfrm>
            <a:off x="6181344" y="1371600"/>
            <a:ext cx="26334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81344" y="144475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181344" y="224028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REST API endpoints</a:t>
            </a:r>
            <a:endParaRPr lang="en-US" sz="1400" dirty="0"/>
          </a:p>
        </p:txBody>
      </p:sp>
      <p:sp>
        <p:nvSpPr>
          <p:cNvPr id="12" name="stat"/>
          <p:cNvSpPr/>
          <p:nvPr/>
        </p:nvSpPr>
        <p:spPr>
          <a:xfrm>
            <a:off x="8997696" y="1371600"/>
            <a:ext cx="26334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97696" y="144475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997696" y="224028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third-party Java libraries</a:t>
            </a:r>
            <a:endParaRPr lang="en-US" sz="1400" dirty="0"/>
          </a:p>
        </p:txBody>
      </p:sp>
      <p:sp>
        <p:nvSpPr>
          <p:cNvPr id="15" name="arch"/>
          <p:cNvSpPr/>
          <p:nvPr/>
        </p:nvSpPr>
        <p:spPr>
          <a:xfrm>
            <a:off x="548640" y="3291840"/>
            <a:ext cx="338328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474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React 19 + Vite frontend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06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Dashboard, one page per module, dataset manager, canvas background (port 5173)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95928" y="4251960"/>
            <a:ext cx="329184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arch"/>
          <p:cNvSpPr/>
          <p:nvPr/>
        </p:nvSpPr>
        <p:spPr>
          <a:xfrm>
            <a:off x="4389120" y="3291840"/>
            <a:ext cx="338328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17720" y="3474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Java HTTP REST server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206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Pure Java 17 (com.sun.net.httpserver), custom JSON parser, routing and CORS (port 8080)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836408" y="4251960"/>
            <a:ext cx="329184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arch"/>
          <p:cNvSpPr/>
          <p:nvPr/>
        </p:nvSpPr>
        <p:spPr>
          <a:xfrm>
            <a:off x="8229600" y="3291840"/>
            <a:ext cx="338328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58200" y="3474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 algorithm engines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4206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String, Suffix, DP, Flow, NP-Completeness, Randomised and Parallel modules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Goal: show how Data Structures and Algorithms solve real banking problems: fraud detection, indexing, reconciliation, settlement, compliance and risk.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dataset: Kaggle Bank Transaction Data</a:t>
            </a:r>
            <a:endParaRPr lang="en-US" sz="3200" dirty="0"/>
          </a:p>
        </p:txBody>
      </p:sp>
      <p:sp>
        <p:nvSpPr>
          <p:cNvPr id="3" name="stat"/>
          <p:cNvSpPr/>
          <p:nvPr/>
        </p:nvSpPr>
        <p:spPr>
          <a:xfrm>
            <a:off x="548640" y="1325880"/>
            <a:ext cx="2633472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8988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2,512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transactions</a:t>
            </a:r>
            <a:endParaRPr lang="en-US" sz="1400" dirty="0"/>
          </a:p>
        </p:txBody>
      </p:sp>
      <p:sp>
        <p:nvSpPr>
          <p:cNvPr id="6" name="stat"/>
          <p:cNvSpPr/>
          <p:nvPr/>
        </p:nvSpPr>
        <p:spPr>
          <a:xfrm>
            <a:off x="3364992" y="1325880"/>
            <a:ext cx="2633472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64992" y="138988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364992" y="201168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attributes</a:t>
            </a:r>
            <a:endParaRPr lang="en-US" sz="1400" dirty="0"/>
          </a:p>
        </p:txBody>
      </p:sp>
      <p:sp>
        <p:nvSpPr>
          <p:cNvPr id="9" name="stat"/>
          <p:cNvSpPr/>
          <p:nvPr/>
        </p:nvSpPr>
        <p:spPr>
          <a:xfrm>
            <a:off x="6181344" y="1325880"/>
            <a:ext cx="2633472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81344" y="138988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495 + 100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181344" y="201168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accounts + merchants</a:t>
            </a:r>
            <a:endParaRPr lang="en-US" sz="1400" dirty="0"/>
          </a:p>
        </p:txBody>
      </p:sp>
      <p:sp>
        <p:nvSpPr>
          <p:cNvPr id="12" name="stat"/>
          <p:cNvSpPr/>
          <p:nvPr/>
        </p:nvSpPr>
        <p:spPr>
          <a:xfrm>
            <a:off x="8997696" y="1325880"/>
            <a:ext cx="2633472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97696" y="138988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2023 - Jan 2024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997696" y="201168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date range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269748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486400" y="27432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each record holds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0" y="3154680"/>
            <a:ext cx="6126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Identity: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TransactionID, AccountID, MerchantID, DeviceID, IP Address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Money: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TransactionAmount (0.26 to 1,919; mean 298), AccountBalance, Debit / Credit type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Context: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Location (43 cities), Channel (Branch, ATM, Online), TransactionDate, PreviousTransactionDate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Age 18 to 80, Occupation (Student, Doctor, Engineer, Retired)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Behaviour: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TransactionDuration, LoginAttempts (1 to 5; 122 records above 1)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the data feeds every module</a:t>
            </a:r>
            <a:endParaRPr lang="en-US" sz="3200" dirty="0"/>
          </a:p>
        </p:txBody>
      </p:sp>
      <p:sp>
        <p:nvSpPr>
          <p:cNvPr id="3" name="flow"/>
          <p:cNvSpPr/>
          <p:nvPr/>
        </p:nvSpPr>
        <p:spPr>
          <a:xfrm>
            <a:off x="548640" y="1371600"/>
            <a:ext cx="23774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Kaggle CSV upload or preset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971800" y="1828800"/>
            <a:ext cx="347472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flow"/>
          <p:cNvSpPr/>
          <p:nvPr/>
        </p:nvSpPr>
        <p:spPr>
          <a:xfrm>
            <a:off x="3364992" y="1371600"/>
            <a:ext cx="23774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47872" y="13716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DatasetManager maps column names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88152" y="1828800"/>
            <a:ext cx="347472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low"/>
          <p:cNvSpPr/>
          <p:nvPr/>
        </p:nvSpPr>
        <p:spPr>
          <a:xfrm>
            <a:off x="6181344" y="1371600"/>
            <a:ext cx="23774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3716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Accounts and audit dossiers auto-built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04504" y="1828800"/>
            <a:ext cx="347472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flow"/>
          <p:cNvSpPr/>
          <p:nvPr/>
        </p:nvSpPr>
        <p:spPr>
          <a:xfrm>
            <a:off x="8997696" y="1371600"/>
            <a:ext cx="23774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0576" y="13716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All 6 modules re-index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834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Column names such as customer_id, amt or is_fraud are mapped automatically, so any Kaggle fraud file works. Five datasets are built in:</a:t>
            </a:r>
            <a:endParaRPr lang="en-US" sz="1500" dirty="0"/>
          </a:p>
        </p:txBody>
      </p:sp>
      <p:sp>
        <p:nvSpPr>
          <p:cNvPr id="15" name="preset"/>
          <p:cNvSpPr/>
          <p:nvPr/>
        </p:nvSpPr>
        <p:spPr>
          <a:xfrm>
            <a:off x="548640" y="3566160"/>
            <a:ext cx="2103120" cy="23774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Bank Transactions Data 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434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2,512 txns | 595 accounts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166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Default real dataset</a:t>
            </a:r>
            <a:endParaRPr lang="en-US" sz="1400" dirty="0"/>
          </a:p>
        </p:txBody>
      </p:sp>
      <p:sp>
        <p:nvSpPr>
          <p:cNvPr id="19" name="preset"/>
          <p:cNvSpPr/>
          <p:nvPr/>
        </p:nvSpPr>
        <p:spPr>
          <a:xfrm>
            <a:off x="2798064" y="3566160"/>
            <a:ext cx="2103120" cy="23774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35224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AML Suspicious Activity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935224" y="4434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250 txns | 40 accounts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35224" y="5166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Fraud patterns, Module 1</a:t>
            </a:r>
            <a:endParaRPr lang="en-US" sz="1400" dirty="0"/>
          </a:p>
        </p:txBody>
      </p:sp>
      <p:sp>
        <p:nvSpPr>
          <p:cNvPr id="23" name="preset"/>
          <p:cNvSpPr/>
          <p:nvPr/>
        </p:nvSpPr>
        <p:spPr>
          <a:xfrm>
            <a:off x="5047488" y="3566160"/>
            <a:ext cx="2103120" cy="23774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84648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Global SWIFT and Forex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184648" y="4434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200 txns | 30 accounts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184648" y="5166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12 currencies, Module 4</a:t>
            </a:r>
            <a:endParaRPr lang="en-US" sz="1400" dirty="0"/>
          </a:p>
        </p:txBody>
      </p:sp>
      <p:sp>
        <p:nvSpPr>
          <p:cNvPr id="27" name="preset"/>
          <p:cNvSpPr/>
          <p:nvPr/>
        </p:nvSpPr>
        <p:spPr>
          <a:xfrm>
            <a:off x="7296912" y="3566160"/>
            <a:ext cx="2103120" cy="23774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34072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Retail High-Volume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434072" y="4434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500 txns | 60 accounts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434072" y="5166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UPI and card, Module 6</a:t>
            </a:r>
            <a:endParaRPr lang="en-US" sz="1400" dirty="0"/>
          </a:p>
        </p:txBody>
      </p:sp>
      <p:sp>
        <p:nvSpPr>
          <p:cNvPr id="31" name="preset"/>
          <p:cNvSpPr/>
          <p:nvPr/>
        </p:nvSpPr>
        <p:spPr>
          <a:xfrm>
            <a:off x="9546336" y="3566160"/>
            <a:ext cx="2103120" cy="23774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83496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Synthetic Indian Banking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683496" y="4434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100 txns | 20 accounts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683496" y="5166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Quick testing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Module 1: String Algorithms</a:t>
            </a:r>
            <a:endParaRPr lang="en-US" sz="3200" dirty="0"/>
          </a:p>
        </p:txBody>
      </p:sp>
      <p:sp>
        <p:nvSpPr>
          <p:cNvPr id="3" name="panel"/>
          <p:cNvSpPr/>
          <p:nvPr/>
        </p:nvSpPr>
        <p:spPr>
          <a:xfrm>
            <a:off x="548640" y="1371600"/>
            <a:ext cx="3017520" cy="47548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Exact and multi-pattern matching over transaction text and codes.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WORKS 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3891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Descriptions, payment / IFSC / SWIFT codes, 14-keyword AML watchlist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840480" y="1371600"/>
            <a:ext cx="3749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508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KMP (Knuth-Morris-Pratt)</a:t>
            </a:r>
            <a:endParaRPr lang="en-US" sz="1500" dirty="0"/>
          </a:p>
        </p:txBody>
      </p:sp>
      <p:sp>
        <p:nvSpPr>
          <p:cNvPr id="10" name="chip"/>
          <p:cNvSpPr/>
          <p:nvPr/>
        </p:nvSpPr>
        <p:spPr>
          <a:xfrm>
            <a:off x="4023360" y="2057400"/>
            <a:ext cx="31089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O(n + m)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4231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Failure table avoids backtracking; finds payment codes and references in ledger text.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7891272" y="1371600"/>
            <a:ext cx="3749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74152" y="1508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Z-Function</a:t>
            </a:r>
            <a:endParaRPr lang="en-US" sz="1500" dirty="0"/>
          </a:p>
        </p:txBody>
      </p:sp>
      <p:sp>
        <p:nvSpPr>
          <p:cNvPr id="15" name="chip"/>
          <p:cNvSpPr/>
          <p:nvPr/>
        </p:nvSpPr>
        <p:spPr>
          <a:xfrm>
            <a:off x="8074152" y="2057400"/>
            <a:ext cx="31089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74152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O(n + m)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074152" y="24231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Prefix-match array that surfaces recurring payments and standing orders.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3840480" y="3840480"/>
            <a:ext cx="3749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3977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Rabin-Karp Rolling Hash</a:t>
            </a:r>
            <a:endParaRPr lang="en-US" sz="1500" dirty="0"/>
          </a:p>
        </p:txBody>
      </p:sp>
      <p:sp>
        <p:nvSpPr>
          <p:cNvPr id="20" name="chip"/>
          <p:cNvSpPr/>
          <p:nvPr/>
        </p:nvSpPr>
        <p:spPr>
          <a:xfrm>
            <a:off x="4023360" y="4526280"/>
            <a:ext cx="31089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23360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O(n + m) avg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489204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Polynomial hash verifies SWIFT, IFSC and routing codes across many records.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7891272" y="3840480"/>
            <a:ext cx="3749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74152" y="3977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Aho-Corasick Automaton</a:t>
            </a:r>
            <a:endParaRPr lang="en-US" sz="1500" dirty="0"/>
          </a:p>
        </p:txBody>
      </p:sp>
      <p:sp>
        <p:nvSpPr>
          <p:cNvPr id="25" name="chip"/>
          <p:cNvSpPr/>
          <p:nvPr/>
        </p:nvSpPr>
        <p:spPr>
          <a:xfrm>
            <a:off x="8074152" y="4526280"/>
            <a:ext cx="31089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74152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O(n + m + z)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74152" y="489204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Trie with failure links scans for all AML fraud phrases in one pass.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Module 2: Suffix Structures</a:t>
            </a:r>
            <a:endParaRPr lang="en-US" sz="3200" dirty="0"/>
          </a:p>
        </p:txBody>
      </p:sp>
      <p:sp>
        <p:nvSpPr>
          <p:cNvPr id="3" name="panel"/>
          <p:cNvSpPr/>
          <p:nvPr/>
        </p:nvSpPr>
        <p:spPr>
          <a:xfrm>
            <a:off x="548640" y="1371600"/>
            <a:ext cx="3017520" cy="47548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Index transaction narratives and audit reports for instant substring search.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WORKS 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3891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Narratives joined into one searchable corpus; 4 audit and compliance documents</a:t>
            </a:r>
            <a:endParaRPr lang="en-US" sz="1400" dirty="0"/>
          </a:p>
        </p:txBody>
      </p:sp>
      <p:sp>
        <p:nvSpPr>
          <p:cNvPr id="8" name="row"/>
          <p:cNvSpPr/>
          <p:nvPr/>
        </p:nvSpPr>
        <p:spPr>
          <a:xfrm>
            <a:off x="3840480" y="1371600"/>
            <a:ext cx="779983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0" y="16276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Suffix Array (Prefix Doubling)</a:t>
            </a:r>
            <a:endParaRPr lang="en-US" sz="1600" dirty="0"/>
          </a:p>
        </p:txBody>
      </p:sp>
      <p:sp>
        <p:nvSpPr>
          <p:cNvPr id="12" name="chip"/>
          <p:cNvSpPr/>
          <p:nvPr/>
        </p:nvSpPr>
        <p:spPr>
          <a:xfrm>
            <a:off x="8503920" y="1481328"/>
            <a:ext cx="2971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1481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Build O(n log²n) | Query O(m log n)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8288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Sorted suffixes plus binary search give fast arbitrary substring queries.</a:t>
            </a:r>
            <a:endParaRPr lang="en-US" sz="1400" dirty="0"/>
          </a:p>
        </p:txBody>
      </p:sp>
      <p:sp>
        <p:nvSpPr>
          <p:cNvPr id="15" name="row"/>
          <p:cNvSpPr/>
          <p:nvPr/>
        </p:nvSpPr>
        <p:spPr>
          <a:xfrm>
            <a:off x="3840480" y="2578608"/>
            <a:ext cx="779983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2834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2336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6883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SA-IS Induced Sorting</a:t>
            </a:r>
            <a:endParaRPr lang="en-US" sz="1600" dirty="0"/>
          </a:p>
        </p:txBody>
      </p:sp>
      <p:sp>
        <p:nvSpPr>
          <p:cNvPr id="19" name="chip"/>
          <p:cNvSpPr/>
          <p:nvPr/>
        </p:nvSpPr>
        <p:spPr>
          <a:xfrm>
            <a:off x="8503920" y="2688336"/>
            <a:ext cx="2971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0" y="268833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Build O(n)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03580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Linear-time suffix array for large audit reports and loan covenants.</a:t>
            </a:r>
            <a:endParaRPr lang="en-US" sz="1400" dirty="0"/>
          </a:p>
        </p:txBody>
      </p:sp>
      <p:sp>
        <p:nvSpPr>
          <p:cNvPr id="22" name="row"/>
          <p:cNvSpPr/>
          <p:nvPr/>
        </p:nvSpPr>
        <p:spPr>
          <a:xfrm>
            <a:off x="3840480" y="3785616"/>
            <a:ext cx="779983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0" y="4041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23360" y="4041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3895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Kasai LCP Array</a:t>
            </a:r>
            <a:endParaRPr lang="en-US" sz="1600" dirty="0"/>
          </a:p>
        </p:txBody>
      </p:sp>
      <p:sp>
        <p:nvSpPr>
          <p:cNvPr id="26" name="chip"/>
          <p:cNvSpPr/>
          <p:nvPr/>
        </p:nvSpPr>
        <p:spPr>
          <a:xfrm>
            <a:off x="8503920" y="3895344"/>
            <a:ext cx="2971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0" y="3895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O(n)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424281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Longest common prefixes expose duplicate contracts and repeated clauses.</a:t>
            </a:r>
            <a:endParaRPr lang="en-US" sz="1400" dirty="0"/>
          </a:p>
        </p:txBody>
      </p:sp>
      <p:sp>
        <p:nvSpPr>
          <p:cNvPr id="29" name="row"/>
          <p:cNvSpPr/>
          <p:nvPr/>
        </p:nvSpPr>
        <p:spPr>
          <a:xfrm>
            <a:off x="3840480" y="4992624"/>
            <a:ext cx="779983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0" y="524865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23360" y="5248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5102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Suffix Automaton</a:t>
            </a:r>
            <a:endParaRPr lang="en-US" sz="1600" dirty="0"/>
          </a:p>
        </p:txBody>
      </p:sp>
      <p:sp>
        <p:nvSpPr>
          <p:cNvPr id="33" name="chip"/>
          <p:cNvSpPr/>
          <p:nvPr/>
        </p:nvSpPr>
        <p:spPr>
          <a:xfrm>
            <a:off x="8503920" y="5102352"/>
            <a:ext cx="2971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3920" y="5102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Query O(m)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544982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Minimal DAWG tests substring existence and counts distinct substrings.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Module 3: Dynamic Programming</a:t>
            </a:r>
            <a:endParaRPr lang="en-US" sz="3200" dirty="0"/>
          </a:p>
        </p:txBody>
      </p:sp>
      <p:sp>
        <p:nvSpPr>
          <p:cNvPr id="3" name="panel"/>
          <p:cNvSpPr/>
          <p:nvPr/>
        </p:nvSpPr>
        <p:spPr>
          <a:xfrm>
            <a:off x="548640" y="1371600"/>
            <a:ext cx="3017520" cy="47548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Clean noisy data and optimise investment and processing decisions.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WORKS 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3891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Counterparty names, account numbers, investment options, query pipelines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840480" y="1371600"/>
            <a:ext cx="3749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508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Levenshtein / Damerau</a:t>
            </a:r>
            <a:endParaRPr lang="en-US" sz="1500" dirty="0"/>
          </a:p>
        </p:txBody>
      </p:sp>
      <p:sp>
        <p:nvSpPr>
          <p:cNvPr id="10" name="chip"/>
          <p:cNvSpPr/>
          <p:nvPr/>
        </p:nvSpPr>
        <p:spPr>
          <a:xfrm>
            <a:off x="4023360" y="2057400"/>
            <a:ext cx="31089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O(m · n)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4231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Edit distance corrects misspelt names and memos, showing each operation.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7891272" y="1371600"/>
            <a:ext cx="3749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74152" y="1508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Weighted Edit Distance</a:t>
            </a:r>
            <a:endParaRPr lang="en-US" sz="1500" dirty="0"/>
          </a:p>
        </p:txBody>
      </p:sp>
      <p:sp>
        <p:nvSpPr>
          <p:cNvPr id="15" name="chip"/>
          <p:cNvSpPr/>
          <p:nvPr/>
        </p:nvSpPr>
        <p:spPr>
          <a:xfrm>
            <a:off x="8074152" y="2057400"/>
            <a:ext cx="31089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74152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O(m · n)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074152" y="24231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Digit changes cost 3.0, letters 1.0, so account numbers stay protected.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3840480" y="3840480"/>
            <a:ext cx="3749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3977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Bitmask DP</a:t>
            </a:r>
            <a:endParaRPr lang="en-US" sz="1500" dirty="0"/>
          </a:p>
        </p:txBody>
      </p:sp>
      <p:sp>
        <p:nvSpPr>
          <p:cNvPr id="20" name="chip"/>
          <p:cNvSpPr/>
          <p:nvPr/>
        </p:nvSpPr>
        <p:spPr>
          <a:xfrm>
            <a:off x="4023360" y="4526280"/>
            <a:ext cx="31089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23360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O(2ⁿ · n)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489204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Tries all investment subsets to maximise yield within budget and risk rules.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7891272" y="3840480"/>
            <a:ext cx="3749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74152" y="3977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Matrix-Chain Multiplication</a:t>
            </a:r>
            <a:endParaRPr lang="en-US" sz="1500" dirty="0"/>
          </a:p>
        </p:txBody>
      </p:sp>
      <p:sp>
        <p:nvSpPr>
          <p:cNvPr id="25" name="chip"/>
          <p:cNvSpPr/>
          <p:nvPr/>
        </p:nvSpPr>
        <p:spPr>
          <a:xfrm>
            <a:off x="8074152" y="4526280"/>
            <a:ext cx="31089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74152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O(n³)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74152" y="489204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Finds the cheapest order to run chained joins and compliance filters.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Module 4: Network Flow</a:t>
            </a:r>
            <a:endParaRPr lang="en-US" sz="3200" dirty="0"/>
          </a:p>
        </p:txBody>
      </p:sp>
      <p:sp>
        <p:nvSpPr>
          <p:cNvPr id="3" name="panel"/>
          <p:cNvSpPr/>
          <p:nvPr/>
        </p:nvSpPr>
        <p:spPr>
          <a:xfrm>
            <a:off x="548640" y="1371600"/>
            <a:ext cx="3017520" cy="47548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Model interbank settlement and allocate fraud cases.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WORKS 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3891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Sender to receiver account graph with transaction amounts as capacities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840480" y="1371600"/>
            <a:ext cx="245059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5087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Ford-Fulkerson (DFS)</a:t>
            </a:r>
            <a:endParaRPr lang="en-US" sz="1500" dirty="0"/>
          </a:p>
        </p:txBody>
      </p:sp>
      <p:sp>
        <p:nvSpPr>
          <p:cNvPr id="10" name="chip"/>
          <p:cNvSpPr/>
          <p:nvPr/>
        </p:nvSpPr>
        <p:spPr>
          <a:xfrm>
            <a:off x="4023360" y="2057400"/>
            <a:ext cx="2084832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0" y="205740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O(E · maxFlow)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423160"/>
            <a:ext cx="2084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Max clearing throughput; flags saturated corridors.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515100" y="1371600"/>
            <a:ext cx="245059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7980" y="15087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Edmonds-Karp (BFS)</a:t>
            </a:r>
            <a:endParaRPr lang="en-US" sz="1500" dirty="0"/>
          </a:p>
        </p:txBody>
      </p:sp>
      <p:sp>
        <p:nvSpPr>
          <p:cNvPr id="15" name="chip"/>
          <p:cNvSpPr/>
          <p:nvPr/>
        </p:nvSpPr>
        <p:spPr>
          <a:xfrm>
            <a:off x="6697980" y="2057400"/>
            <a:ext cx="2084832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97980" y="205740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O(V · E²)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697980" y="2423160"/>
            <a:ext cx="2084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Shortest augmenting paths give a polynomial guarantee.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9189720" y="1371600"/>
            <a:ext cx="245059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72600" y="15087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Dinic's Algorithm</a:t>
            </a:r>
            <a:endParaRPr lang="en-US" sz="1500" dirty="0"/>
          </a:p>
        </p:txBody>
      </p:sp>
      <p:sp>
        <p:nvSpPr>
          <p:cNvPr id="20" name="chip"/>
          <p:cNvSpPr/>
          <p:nvPr/>
        </p:nvSpPr>
        <p:spPr>
          <a:xfrm>
            <a:off x="9372600" y="2057400"/>
            <a:ext cx="2084832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72600" y="205740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O(V² · E)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2423160"/>
            <a:ext cx="2084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Level graph and blocking flow for dense bulk settlement.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3840480" y="3840480"/>
            <a:ext cx="3785616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23360" y="397764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Bipartite Matching</a:t>
            </a:r>
            <a:endParaRPr lang="en-US" sz="1500" dirty="0"/>
          </a:p>
        </p:txBody>
      </p:sp>
      <p:sp>
        <p:nvSpPr>
          <p:cNvPr id="25" name="chip"/>
          <p:cNvSpPr/>
          <p:nvPr/>
        </p:nvSpPr>
        <p:spPr>
          <a:xfrm>
            <a:off x="4023360" y="4526280"/>
            <a:ext cx="31089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23360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O(V · E)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4892040"/>
            <a:ext cx="3419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Assigns fraud alerts to analysts with matching skills.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7850124" y="3840480"/>
            <a:ext cx="3785616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33004" y="397764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Max-Flow Min-Cut</a:t>
            </a:r>
            <a:endParaRPr lang="en-US" sz="1500" dirty="0"/>
          </a:p>
        </p:txBody>
      </p:sp>
      <p:sp>
        <p:nvSpPr>
          <p:cNvPr id="30" name="chip"/>
          <p:cNvSpPr/>
          <p:nvPr/>
        </p:nvSpPr>
        <p:spPr>
          <a:xfrm>
            <a:off x="8033004" y="4526280"/>
            <a:ext cx="31089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33004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O(V · E²)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033004" y="4892040"/>
            <a:ext cx="3419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Finds the smallest cut, a single point of failure in liquidity.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Module 5: NP-Completeness</a:t>
            </a:r>
            <a:endParaRPr lang="en-US" sz="3200" dirty="0"/>
          </a:p>
        </p:txBody>
      </p:sp>
      <p:sp>
        <p:nvSpPr>
          <p:cNvPr id="3" name="step"/>
          <p:cNvSpPr/>
          <p:nvPr/>
        </p:nvSpPr>
        <p:spPr>
          <a:xfrm>
            <a:off x="548640" y="1371600"/>
            <a:ext cx="2514600" cy="32918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3-SAT</a:t>
            </a:r>
            <a:endParaRPr lang="en-US" sz="1500" dirty="0"/>
          </a:p>
        </p:txBody>
      </p:sp>
      <p:sp>
        <p:nvSpPr>
          <p:cNvPr id="5" name="chip"/>
          <p:cNvSpPr/>
          <p:nvPr/>
        </p:nvSpPr>
        <p:spPr>
          <a:xfrm>
            <a:off x="731520" y="2468880"/>
            <a:ext cx="214884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68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Rule Validator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Checks whether KYC, limit and wire rules can all be satisfied at once (2ⁿ assignments).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81528" y="2834640"/>
            <a:ext cx="283464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"/>
          <p:cNvSpPr/>
          <p:nvPr/>
        </p:nvSpPr>
        <p:spPr>
          <a:xfrm>
            <a:off x="3383280" y="1371600"/>
            <a:ext cx="2514600" cy="32918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508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3-SAT to CLIQUE</a:t>
            </a:r>
            <a:endParaRPr lang="en-US" sz="1500" dirty="0"/>
          </a:p>
        </p:txBody>
      </p:sp>
      <p:sp>
        <p:nvSpPr>
          <p:cNvPr id="11" name="chip"/>
          <p:cNvSpPr/>
          <p:nvPr/>
        </p:nvSpPr>
        <p:spPr>
          <a:xfrm>
            <a:off x="3566160" y="2468880"/>
            <a:ext cx="214884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2468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Constraint Analyzer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8803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Karp reduction builds a clause graph; a k-clique proves the rules are consistent.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16168" y="2834640"/>
            <a:ext cx="283464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"/>
          <p:cNvSpPr/>
          <p:nvPr/>
        </p:nvSpPr>
        <p:spPr>
          <a:xfrm>
            <a:off x="6217920" y="1371600"/>
            <a:ext cx="2514600" cy="32918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1508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CLIQUE to IND. SET to VERTEX COVER</a:t>
            </a:r>
            <a:endParaRPr lang="en-US" sz="1500" dirty="0"/>
          </a:p>
        </p:txBody>
      </p:sp>
      <p:sp>
        <p:nvSpPr>
          <p:cNvPr id="17" name="chip"/>
          <p:cNvSpPr/>
          <p:nvPr/>
        </p:nvSpPr>
        <p:spPr>
          <a:xfrm>
            <a:off x="6400800" y="2468880"/>
            <a:ext cx="214884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2468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Conflict Analyzer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8803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Collusion ring, safe portfolio and oversight set are equivalent problems.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750808" y="2834640"/>
            <a:ext cx="283464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"/>
          <p:cNvSpPr/>
          <p:nvPr/>
        </p:nvSpPr>
        <p:spPr>
          <a:xfrm>
            <a:off x="9052560" y="1371600"/>
            <a:ext cx="2514600" cy="32918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35440" y="1508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Vertex-Cover 2-Approximation</a:t>
            </a:r>
            <a:endParaRPr lang="en-US" sz="1500" dirty="0"/>
          </a:p>
        </p:txBody>
      </p:sp>
      <p:sp>
        <p:nvSpPr>
          <p:cNvPr id="23" name="chip"/>
          <p:cNvSpPr/>
          <p:nvPr/>
        </p:nvSpPr>
        <p:spPr>
          <a:xfrm>
            <a:off x="9235440" y="2468880"/>
            <a:ext cx="214884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35440" y="2468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Dependency Solver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28803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Greedy edge picking monitors all system links within 2x optimal, O(V + E).</a:t>
            </a:r>
            <a:endParaRPr lang="en-US" sz="1400" dirty="0"/>
          </a:p>
        </p:txBody>
      </p:sp>
      <p:sp>
        <p:nvSpPr>
          <p:cNvPr id="26" name="callout"/>
          <p:cNvSpPr/>
          <p:nvPr/>
        </p:nvSpPr>
        <p:spPr>
          <a:xfrm>
            <a:off x="548640" y="493776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937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Reductions between hard problems, with approximation. If one problem can be solved fast, all of them can. That is why exact answers are costly and an approximation with a provable guarantee is used at scale.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Module 6: Randomised and Parallel</a:t>
            </a:r>
            <a:endParaRPr lang="en-US" sz="3200" dirty="0"/>
          </a:p>
        </p:txBody>
      </p:sp>
      <p:sp>
        <p:nvSpPr>
          <p:cNvPr id="3" name="panel"/>
          <p:cNvSpPr/>
          <p:nvPr/>
        </p:nvSpPr>
        <p:spPr>
          <a:xfrm>
            <a:off x="548640" y="1371600"/>
            <a:ext cx="3017520" cy="47548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Estimate risk, find outliers and scale analytics across cores.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WORKS 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3891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Transaction amounts, portfolio returns, running balances</a:t>
            </a:r>
            <a:endParaRPr lang="en-US" sz="1400" dirty="0"/>
          </a:p>
        </p:txBody>
      </p:sp>
      <p:sp>
        <p:nvSpPr>
          <p:cNvPr id="8" name="row"/>
          <p:cNvSpPr/>
          <p:nvPr/>
        </p:nvSpPr>
        <p:spPr>
          <a:xfrm>
            <a:off x="3840480" y="1371600"/>
            <a:ext cx="779983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0" y="16276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Monte Carlo Simulation</a:t>
            </a:r>
            <a:endParaRPr lang="en-US" sz="1600" dirty="0"/>
          </a:p>
        </p:txBody>
      </p:sp>
      <p:sp>
        <p:nvSpPr>
          <p:cNvPr id="12" name="chip"/>
          <p:cNvSpPr/>
          <p:nvPr/>
        </p:nvSpPr>
        <p:spPr>
          <a:xfrm>
            <a:off x="8503920" y="1481328"/>
            <a:ext cx="2971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1481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O(S · N) | error 1/√S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8288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Thousands of portfolio paths give Value-at-Risk and CVaR at 95% and 99%.</a:t>
            </a:r>
            <a:endParaRPr lang="en-US" sz="1400" dirty="0"/>
          </a:p>
        </p:txBody>
      </p:sp>
      <p:sp>
        <p:nvSpPr>
          <p:cNvPr id="15" name="row"/>
          <p:cNvSpPr/>
          <p:nvPr/>
        </p:nvSpPr>
        <p:spPr>
          <a:xfrm>
            <a:off x="3840480" y="2578608"/>
            <a:ext cx="779983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2834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2336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6883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Las Vegas Quickselect + IQR</a:t>
            </a:r>
            <a:endParaRPr lang="en-US" sz="1600" dirty="0"/>
          </a:p>
        </p:txBody>
      </p:sp>
      <p:sp>
        <p:nvSpPr>
          <p:cNvPr id="19" name="chip"/>
          <p:cNvSpPr/>
          <p:nvPr/>
        </p:nvSpPr>
        <p:spPr>
          <a:xfrm>
            <a:off x="8503920" y="2688336"/>
            <a:ext cx="2971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0" y="268833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Expected O(n)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03580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Exact quartiles with random pivots; flags amounts beyond 1.5 × IQR.</a:t>
            </a:r>
            <a:endParaRPr lang="en-US" sz="1400" dirty="0"/>
          </a:p>
        </p:txBody>
      </p:sp>
      <p:sp>
        <p:nvSpPr>
          <p:cNvPr id="22" name="row"/>
          <p:cNvSpPr/>
          <p:nvPr/>
        </p:nvSpPr>
        <p:spPr>
          <a:xfrm>
            <a:off x="3840480" y="3785616"/>
            <a:ext cx="779983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0" y="4041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23360" y="4041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3895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Blelloch Parallel Prefix Sum</a:t>
            </a:r>
            <a:endParaRPr lang="en-US" sz="1600" dirty="0"/>
          </a:p>
        </p:txBody>
      </p:sp>
      <p:sp>
        <p:nvSpPr>
          <p:cNvPr id="26" name="chip"/>
          <p:cNvSpPr/>
          <p:nvPr/>
        </p:nvSpPr>
        <p:spPr>
          <a:xfrm>
            <a:off x="8503920" y="3895344"/>
            <a:ext cx="2971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0" y="3895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Work O(n) | Span O(log n)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424281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Up-sweep and down-sweep compute running balances in parallel.</a:t>
            </a:r>
            <a:endParaRPr lang="en-US" sz="1400" dirty="0"/>
          </a:p>
        </p:txBody>
      </p:sp>
      <p:sp>
        <p:nvSpPr>
          <p:cNvPr id="29" name="row"/>
          <p:cNvSpPr/>
          <p:nvPr/>
        </p:nvSpPr>
        <p:spPr>
          <a:xfrm>
            <a:off x="3840480" y="4992624"/>
            <a:ext cx="779983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0" y="524865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23360" y="5248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5102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Work-Span / Brent's Theorem</a:t>
            </a:r>
            <a:endParaRPr lang="en-US" sz="1600" dirty="0"/>
          </a:p>
        </p:txBody>
      </p:sp>
      <p:sp>
        <p:nvSpPr>
          <p:cNvPr id="33" name="chip"/>
          <p:cNvSpPr/>
          <p:nvPr/>
        </p:nvSpPr>
        <p:spPr>
          <a:xfrm>
            <a:off x="8503920" y="5102352"/>
            <a:ext cx="2971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3920" y="5102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Tp ≤ W/p + 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544982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Predicts speedup of batch pipelines on p processor cores.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Algorithm toolkit at a glance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3840480"/>
                <a:gridCol w="31089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Module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Paradigm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Headline algorithms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Banking problem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M1 String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Pattern matching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KMP, Z, Rabin-Karp, Aho-Corasick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Fraud keyword detection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M2 Suffix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 indexing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Suffix Array, SA-IS, LCP, Automaton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Audit report search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M3 DP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Dynamic programming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Edit distance, Bitmask, Matrix-Chain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 cleansing, investments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M4 Flow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Graph flow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Dinic, Edmonds-Karp, Matching, Min-Cut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Settlement, case allocation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M5 NP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Reductions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3-SAT, CLIQUE, Vertex Cover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Rule consistency, monitoring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M6 Random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Randomised, parallel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Monte Carlo, Quickselect, Prefix Sum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Risk, outliers, scaling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Conclusion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FinServe connects theory to practice: 25 algorithms run on a real 2,512-transaction dataset through one Java API and React interface.</a:t>
            </a:r>
            <a:endParaRPr lang="en-US" sz="2000" dirty="0"/>
          </a:p>
        </p:txBody>
      </p:sp>
      <p:sp>
        <p:nvSpPr>
          <p:cNvPr id="4" name="take"/>
          <p:cNvSpPr/>
          <p:nvPr/>
        </p:nvSpPr>
        <p:spPr>
          <a:xfrm>
            <a:off x="731520" y="411480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Real data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4709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Kaggle bank transactions plus 4 built-in presets</a:t>
            </a:r>
            <a:endParaRPr lang="en-US" sz="1400" dirty="0"/>
          </a:p>
        </p:txBody>
      </p:sp>
      <p:sp>
        <p:nvSpPr>
          <p:cNvPr id="7" name="take"/>
          <p:cNvSpPr/>
          <p:nvPr/>
        </p:nvSpPr>
        <p:spPr>
          <a:xfrm>
            <a:off x="4389120" y="411480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Right tool per problem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4709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Strings, suffixes, DP, flow, NP, randomised</a:t>
            </a:r>
            <a:endParaRPr lang="en-US" sz="1400" dirty="0"/>
          </a:p>
        </p:txBody>
      </p:sp>
      <p:sp>
        <p:nvSpPr>
          <p:cNvPr id="10" name="take"/>
          <p:cNvSpPr/>
          <p:nvPr/>
        </p:nvSpPr>
        <p:spPr>
          <a:xfrm>
            <a:off x="8046720" y="411480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Scalable by design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4709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Linear-time, parallel and approximate methods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Meher Bhoyar  |  Adarsh Kumar  |  David        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Serve">
  <a:themeElements>
    <a:clrScheme name="FinServe">
      <a:dk1>
        <a:srgbClr val="16221F"/>
      </a:dk1>
      <a:lt1>
        <a:srgbClr val="FFFFFF"/>
      </a:lt1>
      <a:dk2>
        <a:srgbClr val="0B3D35"/>
      </a:dk2>
      <a:lt2>
        <a:srgbClr val="EEF4F1"/>
      </a:lt2>
      <a:accent1>
        <a:srgbClr val="0F766E"/>
      </a:accent1>
      <a:accent2>
        <a:srgbClr val="D9A441"/>
      </a:accent2>
      <a:accent3>
        <a:srgbClr val="1E4D6B"/>
      </a:accent3>
      <a:accent4>
        <a:srgbClr val="7A9E7E"/>
      </a:accent4>
      <a:accent5>
        <a:srgbClr val="B85042"/>
      </a:accent5>
      <a:accent6>
        <a:srgbClr val="64748B"/>
      </a:accent6>
      <a:hlink>
        <a:srgbClr val="0F766E"/>
      </a:hlink>
      <a:folHlink>
        <a:srgbClr val="64748B"/>
      </a:folHlink>
    </a:clrScheme>
    <a:fontScheme name="FinSer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FinServe - Intelligent Banking Analytics Platform</dc:title>
  <dc:subject>PptxGenJS Presentation</dc:subject>
  <dc:creator>Meher Bhoyar, Adarsh Kumar, David</dc:creator>
  <cp:lastModifiedBy>Meher Bhoyar, Adarsh Kumar, David</cp:lastModifiedBy>
  <cp:revision>1</cp:revision>
  <dcterms:created xsi:type="dcterms:W3CDTF">2026-10-16T05:44:40Z</dcterms:created>
  <dcterms:modified xsi:type="dcterms:W3CDTF">2026-10-16T05:44:40Z</dcterms:modified>
</cp:coreProperties>
</file>